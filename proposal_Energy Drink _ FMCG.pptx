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648" y="429768"/>
            <a:ext cx="36576" cy="128016"/>
          </a:xfrm>
          <a:prstGeom prst="rect">
            <a:avLst/>
          </a:prstGeom>
          <a:solidFill>
            <a:srgbClr val="F65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475122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D1D1F"/>
                </a:solidFill>
                <a:latin typeface="Calibri"/>
              </a:rPr>
              <a:t>GIẢI PHÁP ZALO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59752" y="402336"/>
            <a:ext cx="1371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D1D1F"/>
                </a:solidFill>
                <a:latin typeface="Calibri"/>
              </a:rPr>
              <a:t>adtimabox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731520"/>
            <a:ext cx="475122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>
                <a:solidFill>
                  <a:srgbClr val="1D1D1F"/>
                </a:solidFill>
                <a:latin typeface="Calibri"/>
              </a:rPr>
              <a:t>Tăng tương tác &amp; thu data trên </a:t>
            </a:r>
            <a:r>
              <a:rPr sz="2600" b="1">
                <a:solidFill>
                  <a:srgbClr val="F65009"/>
                </a:solidFill>
                <a:latin typeface="Calibri"/>
              </a:rPr>
              <a:t>Zalo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508760"/>
            <a:ext cx="4355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70"/>
                </a:solidFill>
                <a:latin typeface="Calibri"/>
              </a:rPr>
              <a:t>Kết hợp OA, ZNS, Mini App để thu lead, tái tiếp cận và tăng loyalty.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920240"/>
            <a:ext cx="4592848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E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75104"/>
            <a:ext cx="274320" cy="274320"/>
          </a:xfrm>
          <a:prstGeom prst="rect">
            <a:avLst/>
          </a:prstGeom>
          <a:solidFill>
            <a:srgbClr val="FB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56816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D1D1F"/>
                </a:solidFill>
                <a:latin typeface="Calibri"/>
              </a:rPr>
              <a:t>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1956816"/>
            <a:ext cx="380097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Calibri"/>
              </a:rPr>
              <a:t>Zalo OA — kênh giao tiếp chính thức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139696"/>
            <a:ext cx="380097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70"/>
                </a:solidFill>
                <a:latin typeface="Calibri"/>
              </a:rPr>
              <a:t>Reach 40M+ người dùng không cần app riêng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2586609"/>
            <a:ext cx="4592848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E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641473"/>
            <a:ext cx="274320" cy="274320"/>
          </a:xfrm>
          <a:prstGeom prst="rect">
            <a:avLst/>
          </a:prstGeom>
          <a:solidFill>
            <a:srgbClr val="FB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23185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D1D1F"/>
                </a:solidFill>
                <a:latin typeface="Calibri"/>
              </a:rPr>
              <a:t>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2623185"/>
            <a:ext cx="380097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Calibri"/>
              </a:rPr>
              <a:t>ZNS — thông báo push cá nhân hoá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2806065"/>
            <a:ext cx="380097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70"/>
                </a:solidFill>
                <a:latin typeface="Calibri"/>
              </a:rPr>
              <a:t>Tỉ lệ mở cao, không bị spam filter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" y="3252978"/>
            <a:ext cx="4592848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E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07842"/>
            <a:ext cx="274320" cy="274320"/>
          </a:xfrm>
          <a:prstGeom prst="rect">
            <a:avLst/>
          </a:prstGeom>
          <a:solidFill>
            <a:srgbClr val="FB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289554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D1D1F"/>
                </a:solidFill>
                <a:latin typeface="Calibri"/>
              </a:rPr>
              <a:t>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" y="3289554"/>
            <a:ext cx="380097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Calibri"/>
              </a:rPr>
              <a:t>Mini App — gamification &amp; loyalty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" y="3472434"/>
            <a:ext cx="380097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70"/>
                </a:solidFill>
                <a:latin typeface="Calibri"/>
              </a:rPr>
              <a:t>Voucher, điểm thưởng, đổi quà tại chỗ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" y="3919347"/>
            <a:ext cx="4592848" cy="611505"/>
          </a:xfrm>
          <a:prstGeom prst="rect">
            <a:avLst/>
          </a:prstGeom>
          <a:solidFill>
            <a:srgbClr val="FFFFFF"/>
          </a:solidFill>
          <a:ln w="6350">
            <a:solidFill>
              <a:srgbClr val="E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974211"/>
            <a:ext cx="274320" cy="274320"/>
          </a:xfrm>
          <a:prstGeom prst="rect">
            <a:avLst/>
          </a:prstGeom>
          <a:solidFill>
            <a:srgbClr val="FB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955923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D1D1F"/>
                </a:solidFill>
                <a:latin typeface="Calibri"/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" y="3955923"/>
            <a:ext cx="380097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Calibri"/>
              </a:rPr>
              <a:t>Data &amp; reactivation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" y="4138803"/>
            <a:ext cx="380097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70"/>
                </a:solidFill>
                <a:latin typeface="Calibri"/>
              </a:rPr>
              <a:t>Thu lead offline, tái tiếp cận qua Zalo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" y="4622292"/>
            <a:ext cx="7918704" cy="9144"/>
          </a:xfrm>
          <a:prstGeom prst="rect">
            <a:avLst/>
          </a:prstGeom>
          <a:solidFill>
            <a:srgbClr val="ECE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4695444"/>
            <a:ext cx="25481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Calibri"/>
              </a:rPr>
              <a:t>40M+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5015483"/>
            <a:ext cx="2548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A0"/>
                </a:solidFill>
                <a:latin typeface="Calibri"/>
              </a:rPr>
              <a:t>người dùng Zalo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52216" y="4695444"/>
            <a:ext cx="25481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Calibri"/>
              </a:rPr>
              <a:t>10k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52216" y="5015483"/>
            <a:ext cx="2548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A0"/>
                </a:solidFill>
                <a:latin typeface="Calibri"/>
              </a:rPr>
              <a:t>user mới — Energy Drink / FMCG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1784" y="4695444"/>
            <a:ext cx="25481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Calibri"/>
              </a:rPr>
              <a:t>1-2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1784" y="5015483"/>
            <a:ext cx="2548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A0"/>
                </a:solidFill>
                <a:latin typeface="Calibri"/>
              </a:rPr>
              <a:t>tháng campaign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